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Последнее занятие Темы 1. За два блока мы написали своими руками почти все основные методы классического машинного обучения: метод соседей, логистическую регрессию, деревья, метрики, подготовку данных, кросс-валидацию, кластеризацию, метод главных компонент. Сегодня мы соберем все это в одну работу на новом наборе данных. Это итоговые практические работы №4 и №5, а защита работы засчитывается как промежуточный контроль по теме. Первый час – повторение и инструменты, дальше четыре часа самостоятельной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Задайте вопрос классу и выслушайте ответы. Типичный ответ: «обучу модель и посмотрю точность». Это главная ошибка новичков. Опытный специалист начинает с вопросов: что именно предсказываем и какая ошибка дороже; что в данных сломано; каких признаков в данных быть не должно, потому что они появляются слишком поздно. Модель – только середина работы. Сегодня разберем полный порядок действий и чек-лист типичных ошибок.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Вспомним, что мы умеем, и разложим это по шагам полного цикла решения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Темы 1. Белые карточки – Блок 1: данные и выборки, три модели, метрики, подготовка данных. Голубые – Блок 2: кросс-валидация, переобучение, кластеризация, оценка кластеризации, снижение размерности. Каждое занятие закрывает одну часть полного цикла. В итоговой работе понадобится все, кроме, пожалуй, DBSCAN, и его можно использовать в разведке по желанию. Спросите учеников: какое занятие было самым трудным и почему.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цикл из восьми шагов. Задача и метрика: что предсказываем и как измерим успех. Осмотр и очистка: пропуски, ошибки, повторы. Разбиение на обучающую и тестовую выборки. Разведка: только на обучающей выборке. Конвейер: подготовка данных и модель в одном объекте. Подбор модели и гиперпараметров кросс-валидацией. Тест один раз. Отчет. Подчеркните две темные клетки. Разбиение – граница: до него можно делать только то, что не зависит от данных, например убрать дубликаты или заменить невозможные значения по физическим пределам. Тест открывается только на седьмом шаге и только один раз.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Чек-лист ловушек. Пройдитесь по каждой строке и попросите учеников вспомнить, на каком занятии мы с ней встречались. Признак из будущего: в Б1.1 мы говорили об утечке. Подготовка до разбиения: Б1.6 и Б2.1, задание про отбор признаков дало 0,817 вместо 0,433. Выбор по тесту: Б2.1. Точность при неравных классах: Б1.5. Модель-ориентир: Б1.1. Масштаб: Б1.2. Служебные номера: модель запоминает номер вместо свойства и не переносит знание на новые данные. Скажите прямо: в данных итоговой работы есть ловушки из этого списка, и их поиск оценивается.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Метрика выбирается под задачу. В итоговой работе классы несбалансированы: сухого асфальта почти половина, снега и льда около 15 %. Точность здесь обманывает: модель, которая всегда отвечает «сухой асфальт», получит около 0,45 и ни разу не распознает лед. Поэтому главная метрика – F-мера с макроусреднением, а дополнительная – полнота класса «снег и лед». Обсудите таблицу: ошибки не равноценны. Лед, принятый за сухой асфальт, – это скорость и тормозной путь как на сухой дороге, то есть авария. Сухой асфальт, принятый за лед, – просто медленнее едем.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Все, что мы писали руками, в библиотеке scikit-learn уже есть. В итоговой работе ею впервые разрешено пользоваться полностью. Наши функции с нуля нужны были, чтобы понимать, что происходит внутри.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идея scikit-learn – одинаковый интерфейс у всех объектов. Метод fit учится на данных: считает медианы, средние, компоненты или веса модели. Метод transform применяет выученное к любым данным, например к тестовой выборке. Метод predict выдает ответ модели. В таблице слева – соответствие наших функций и классов библиотеки. Обратите внимание: у нас тоже были пары функций обучения и применения, например fit и apply в Б1.6 – это то же самое.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Конвейер Pipeline соединяет шаги подготовки и модель в один объект. Вызов fit обучает все шаги по очереди, каждый на результате предыдущего; predict применяет их к новым данным в том же порядке. Главная польза – нет утечки: внутри кросс-валидации конвейер обучается заново на каждой обучающей части, и медиана, среднее и компоненты никогда не видят валидационный блок. Вторая польза – на новом объекте нельзя забыть шаг или перепутать порядок.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реальных таблицах признаки разные: числа и текстовые категории. ColumnTransformer применяет к разным столбцам разную подготовку. Числовым – заполнение медианой и стандартизацию, категориальным – заполнение самым частым значением и кодирование one-hot: отдельный столбец из нулей и единиц для каждого значения. Результат склеивается в одну числовую таблицу и подается модели. Параметр handle_unknown='ignore' нужен на случай, если в новых данных встретится значение, которого не было в обучающих.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GridSearchCV – это наш перебор по сетке из Б2.1, сделанный библиотекой. Для каждой комбинации гиперпараметров он делает кросс-валидацию, выбирает лучшую комбинацию по средней метрике и переобучает конвейер с ней на всей обучающей выборке. Имя гиперпараметра в сетке: имя шага конвейера, два подчеркивания, имя параметра. Пример на Wine: 5 значений числа компонент на 3 значения числа соседей – 15 комбинаций, при 5 блоках 75 обучений. Лучшее – две компоненты и пять соседей: F-мера 0,978 на кросс-валидации и 0,947 на тесте. Как и в Б2.5, двух главных компонент Wine почти хватает.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Библиотека pandas нужна для работы с таблицами. Для итоговой работы достаточно десяти команд из этого слайда; они же есть в шпаргалке в ноутбуке. Покажите вживую в ноутбуке: прочитать файл, посмотреть head, info, describe, value_counts. Отдельно покажите, как с помощью loc заменить значения по условию: это понадобится для очистки.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Само задание: какая дорога под колесами беспилотного автомобиля.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из нашей предметной области. Беспилотный автомобиль должен знать, по какому покрытию он едет, от этого зависят безопасная скорость и тормозной путь. Камера ночью и в снег видит плохо, поэтому покрытие распознают по многим датчикам сразу: подвеска, колеса, климат, лидар и камера, шум в салоне. Четыре класса, самый опасный – снег и лед. Одна строка – одна секунда поездки. У каждого ученика свой вариант данных: номер в журнале. Устроены варианты одинаково, а числа разные, поэтому списать не получится, а обсуждать подходы можно.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Предупредите учеников заранее: данные выгружены «как есть» и содержат ловушки. Пропуски, значения, которых не бывает в природе, повторяющиеся строки, одно значение, записанное по-разному. И главное – признаки из будущего. Не называйте их, но дайте правило: для каждого признака спросить себя, будет ли это число известно в ту секунду, когда модель принимает решение. И второе правило: если один признак дает почти идеальный результат, это повод разобраться, а не радоваться. Найти ловушки – часть оценки.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работы: десять шагов. Первые пять – ПР №4: первый взгляд, очистка, признаки и разбиение, разведка, метод главных компонент и кластеризация. Следующие пять – ПР №5: метрика и модель-ориентир, конвейер, подбор гиперпараметров для нескольких моделей, однократная проверка на тесте и отчет. Каждый шаг в ноутбуке описан, есть подсказки и вопросы. Удобный темп: два часа на ПР №4 и два часа на ПР №5, включая защиту.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Критерии оценивания. За каждую работу до 10 баллов и отдельная оценка: 9–10 – пять, 7–8 – четыре, 5–6 – три. Обратите внимание учеников на распределение: модель и ее точность – лишь небольшая часть баллов. Больше всего баллов за правильный порядок действий, найденные проблемы в данных, честную проверку и объяснения. Работа с F-мерой 0,85 и честной проверкой оценивается выше, чем работа с F-мерой 1,0, полученной через утечку.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– промежуточный контроль по Теме 1. Пять–семь минут на ученика, три вопроса: по своему ноутбуку, по Блоку 1 и по Блоку 2. Примеры вопросов на слайде. Главное требование – понимать каждую строку своего кода и уметь объяснить свои числа. Банк вопросов с ответами и критерии – в файле для преподавателя «Критерии оценивания и ключи».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Итоговый чек-лист, который пригодится в любом проекте машинного обучения, не только в этом курсе. Задача и метрика: что дороже, пропуск или ложная тревога. Данные: пропуски, ошибки, повторы, разнобой. Признаки: известен ли он в момент решения. Разбиение: сразу и со стратификацией. Конвейер: вся подготовка внутри. Тест один раз, ошибки разобрать по классам. Раздайте варианты и переходите к работе.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9 КЛАСС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Итоговая работа по Теме 1: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сырых данных до проверенной модели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96012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754880" y="960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5087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«Вам дали таблицу на тысячу строк и сказали: сделай модель. С чего вы начнете?»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 модели. Сначала – задача, метрика и данные: что в них сломано, чего в них быть не должно и какие признаки появятся слишком поздно.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Полный цикл решения задачи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умеем и в каком порядке это применять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1 ЦЕЛИКОМ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Одиннадцать занятий – один инструмент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Б1.1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выборки, ориентир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Б1.2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соседей, масштаб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Б1.3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логистическая регрессия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Б1.4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деревья решений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057400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43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Б1.5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F-мера, матрица ошибок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0" y="2057400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69748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Б1.6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очистка, пропуски, кодирование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1965960" cy="8229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006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Б2.1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кросс-валидация, подбор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2057400"/>
            <a:ext cx="1965960" cy="8229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90372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Б2.2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переобучение, регуляризация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1965960" cy="8229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9436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Б2.3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k средних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017520"/>
            <a:ext cx="1965960" cy="8229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26974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Б2.4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силуэт, индекс Рэнда, DBSCAN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017520"/>
            <a:ext cx="1965960" cy="8229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8006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Б2.5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главных компонент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6560" y="3017520"/>
            <a:ext cx="1965960" cy="8229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90372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Б2.6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вместе на новых данных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Белые карточки – Блок 1 «Обучение с учителем», голубые – Блок 2 «Кластеризация, подготовка данных и кросс-валидация».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Восемь шагов от задачи до отчета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78308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 метрика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58568" y="1618488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60320" y="1188720"/>
            <a:ext cx="178308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Осмотр и очистка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1688" y="1618488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178308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64808" y="1618488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66560" y="1188720"/>
            <a:ext cx="178308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76288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Разведка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78308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587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58568" y="2944368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560320" y="2514600"/>
            <a:ext cx="178308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70048" y="2587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670048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кросс-валидацией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61688" y="2944368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63440" y="2514600"/>
            <a:ext cx="178308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73168" y="2587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773168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один раз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64808" y="2944368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766560" y="2514600"/>
            <a:ext cx="178308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76288" y="2587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876288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Отчет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Темные шаги – граница, которую нельзя нарушать: все, что слева от разбиения, не зависит от данных; тест открывается только на шаге 7.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ловушек, в которые попадают все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ловушка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чем опасна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избежать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признак «из будущего»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идеальная оценка, отказ в работе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для каждого признака: известен ли он в момент решения?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подготовка до разбиения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завышенная оценка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заполнение и масштаб – внутри конвейера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выбор модели по тесту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 перестает быть новыми данными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выбор – по кросс-валидации, тест – один раз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 при неравных классах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видно пропусков редкого класса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F-мера с макроусреднением, полнота важного класса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модели-ориентира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непонятно, хороша ли модель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сравнить с самым частым классом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разный масштаб признаков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расстояние решают «большие» признаки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стандартизация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служебные номера как признаки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 учит номера, а не свойства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убрать идентификаторы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ПОД ЗАДАЧУ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все ошибки одинаково дорогие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13716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МЕТРИКА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F-мера с макроусреднением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F-мера каждого класса, затем среднее: редкий класс весит столько же, сколько частый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977640" cy="13716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БЕЗОПАСНОСТИ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Полнота опасного класса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долю настоящих опасных случаев модель нашла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231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последствие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лед → сухой асфальт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63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 и тормозной путь как на сухой дороге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сухой асфальт → лед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лишняя осторожность, медленнее едем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мокрый → сухой асфальт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тормозной путь недооценен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грунт → мокрый асфальт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слишком жесткая подвеска, тряска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709160" y="3657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Модель-ориентир «всегда сухой асфальт»: точность около 0,45, F-мера около 0,15.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своих функций к scikit-learn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Все, что мы писали руками, теперь можно собрать из готовых деталей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ИНТЕРФЕЙС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fit, transform, predict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394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 писали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scikit-learn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заполнение медианой (Б1.6)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SimpleImputer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fit, transform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стандартизация (Б1.6)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fit, transform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кодирование категорий (Б1.6)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OneHotEncoder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fit, transform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главных компонент (Б2.5)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fit, transform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соседей (Б1.2)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KNeighborsClassifier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fit, predict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логистическая регрессия (Б1.3)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fit, predict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дерево решений (Б1.4)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DecisionTreeClassifier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fit, predict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k средних (Б2.3)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KMeans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fit_predict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9601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учится: считает медиану, среднее, компоненты, веса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26480" y="2194560"/>
            <a:ext cx="2560320" cy="9601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применяет выученное к любым данным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3291840"/>
            <a:ext cx="2560320" cy="9601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30936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выдает ответ модели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PIPELINE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и модель – один объект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78308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заполнение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58568" y="1481328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60320" y="1188720"/>
            <a:ext cx="178308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188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стандартизация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61688" y="1481328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1188720"/>
            <a:ext cx="178308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188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компоненты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64808" y="1481328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1188720"/>
            <a:ext cx="1783080" cy="5943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188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4846320" cy="21031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1671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4231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('impute', SimpleImputer(strategy='median')),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('scale', StandardScaler()),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('pca', PCA(n_components=2)),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('model', KNeighborsClassifier(n_neighbors=5)),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pipe.fit(X_train, y_train)      # все шаги учатся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pipe.predict(X_test)            # все шаги применяются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2057400"/>
            <a:ext cx="3108960" cy="9601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760720" y="2148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утечки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кросс-валидации каждый шаг учится только на обучающих блоках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77840" y="3154680"/>
            <a:ext cx="3108960" cy="10058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76072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строка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новом объекте: ничего не забудешь и не перепутаешь порядок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Разным столбцам – разная подготовка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737360" cy="14630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признаков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2057400"/>
            <a:ext cx="548640" cy="-45720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94560" y="2606040"/>
            <a:ext cx="548640" cy="45720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1188720"/>
            <a:ext cx="2743200" cy="6858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1188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числа: медиана → стандартизация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2788920"/>
            <a:ext cx="2743200" cy="6858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текст: частое значение → one-hot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1536192"/>
            <a:ext cx="502920" cy="54864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32120" y="3127248"/>
            <a:ext cx="502920" cy="-54864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1828800"/>
            <a:ext cx="2606040" cy="100584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числовая таблица для модели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21608"/>
            <a:ext cx="7955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 = ColumnTransformer([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('num', make_pipeline(SimpleImputer(strategy='median'), StandardScaler()), NUM),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('cat', make_pipeline(SimpleImputer(strategy='most_frequent'),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OneHotEncoder(handle_unknown='ignore')), CAT)])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ГИПЕРПАРАМЕТРОВ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= сетка × кросс-валидация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120640" cy="2331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НА WINE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'pca__n_components': [1, 2, 3, 5, 13],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'model__n_neighbors': [1, 5, 15],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StratifiedKFold(5, shuffle=True, random_state=42)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 = GridSearchCV(pipe, grid, cv=cv, scoring='f1_macro')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gs.fit(X_train, y_train)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gs.best_params_, gs.best_score_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параметра: шаг конвейера, два подчеркивания, параметр шага.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52160" y="1097280"/>
            <a:ext cx="283464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03504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× 5 = 75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обучений при переборе плюс одно итоговое на всей обучающей выборке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0" y="2148840"/>
            <a:ext cx="283464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03504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компоненты, 5 соседей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лучшее: F-мера 0,978 на кросс-валидации, 0,947 на тесте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Б2.5: две главные компоненты Wine почти не теряют точности.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за пять минут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сделать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прочитать файл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 = pd.read_csv('файл.csv')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 и начало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df.shape, df.head()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типы и пропуски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df.info(), df.isna().sum()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статистики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df.describe()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частоты значений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df['c'].value_counts(normalize=True)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дубликаты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df.duplicated().sum(), df.drop_duplicates()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строки по условию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df.loc[df['slip'] &gt; 50, 'slip'] = np.nan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средние по группам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df.groupby('surface')['slip'].mean()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к одному виду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df['c'].str.strip().str.lower()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Задание: какая дорога под колесами?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 №4 и ПР №5 на новом наборе данных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 покрытия по датчикам автомобиля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сухой асфальт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дорога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659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4320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мокрый асфальт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дождь, лужи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659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грунт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грунтовка, гравий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6596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4944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снег и лед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опасный класс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подвеска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2402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вибрация передней и задней подвески, высокочастотная вибрация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24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колеса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2624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скорость, проскальзывание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008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климат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300837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 воздуха и дороги, влажность, стеклоочистители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лидар и камера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339242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интенсивность отражения, яркость кадра, время суток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салон и прочее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37764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в салоне, тип шин, номер поездки, рекомендованная скорость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строка – одна секунда поездки, около 1000 строк, 16 признаков. У каждого ученика свой вариант данных.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данных есть ловушки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Пропуски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44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 датчики работали всегда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719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Ошибки датчиков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значения, которых не бывает в природе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408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322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 и те же строки несколько раз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626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Разнобой в записи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209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значение, записанное по-разному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411480" cy="365760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5844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Признаки «из будущего»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 только после того, как ответ уже найден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097280"/>
            <a:ext cx="3840480" cy="30175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029200" y="12344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ДЛЯ КАЖДОГО ПРИЗНАКА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Будет ли это число известно в ту секунду, когда модель принимает решение?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2651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один признак дает почти идеальный результат – это повод разобраться, а не радоваться. Найти ловушки – часть оценки.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РАБОТЫ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Десять шагов за четыре часа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30632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 №4 · подготовка данных и обучение без учителя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84048" cy="338328"/>
          </a:xfrm>
          <a:prstGeom prst="hexag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91640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взгляд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167128"/>
            <a:ext cx="384048" cy="338328"/>
          </a:xfrm>
          <a:prstGeom prst="hexag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6712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167128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данных и очистка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42616"/>
            <a:ext cx="384048" cy="338328"/>
          </a:xfrm>
          <a:prstGeom prst="hexag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42616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642616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признаки, ловушка, разбиение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18104"/>
            <a:ext cx="384048" cy="338328"/>
          </a:xfrm>
          <a:prstGeom prst="hexag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18104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118104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разведка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593592"/>
            <a:ext cx="384048" cy="338328"/>
          </a:xfrm>
          <a:prstGeom prst="hexag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59359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593592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компоненты и кластеры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397764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9204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 №5 · выбор и проверка модели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169164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169164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1691640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и ориентир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167128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216712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2167128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2642616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2642616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2642616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и выбор модели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118104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3118104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3118104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один раз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593592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92040" y="359359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3593592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отчет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scikit-learn и pandas. Везде random_state = 42. Сдается ноутбук с выполненными ячейками и отчетом.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ОЦЕНИВАНИЯ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10 баллов за каждую работу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05840"/>
                <a:gridCol w="310896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 №4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баллы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 №5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баллы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осмотр и очистка (шаги 1–2)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метрика, ориентир, конвейер (6–7)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признаки, ловушка, разбиение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подбор, таблица, выбор (8)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разведка и обучение без учителя (4–5)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на тесте (9)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ответы на вопросы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отчет (10)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1965960" cy="8686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«5»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баллов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0" y="3291840"/>
            <a:ext cx="1965960" cy="8686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743200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«4»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баллов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3291840"/>
            <a:ext cx="1965960" cy="8686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46320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«3»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баллов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66560" y="3291840"/>
            <a:ext cx="1965960" cy="8686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949440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«2»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5 баллов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Промежуточный контроль по Теме 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" cy="365760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1: по вашему ноутбуку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«Покажите, как вы нашли ловушку в признаках»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65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2: по Блоку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«Почему здесь F-мера с макроусреднением, а не точность?»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3: по Блоку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«Сколько обучений сделает перебор 7 значений при 5 блоках?»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0" y="1097280"/>
            <a:ext cx="3474720" cy="9601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9496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 минут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каждого: открываете свой ноутбук и объясняете свои числа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2194560"/>
            <a:ext cx="3474720" cy="9601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39496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понимать каждую строку своего кода и каждое свое решение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291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подготовка – честно выполненная работа и отчет, написанный своими словами.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Чек-лист на каждый проект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и метрика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дороже: пропуск или ложная тревога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пропуски, ошибки, повторы, разнобой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Признаки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известен ли он в момент решения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Разбиение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сразу, со стратификацией; тест в сейф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Конвейер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подготовка внутри Pipeline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и отчет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раз; ошибки разобрать по классам</a:t>
            </a:r>
            <a:endParaRPr lang="en-US" sz="900" dirty="0"/>
          </a:p>
        </p:txBody>
      </p:sp>
      <p:pic>
        <p:nvPicPr>
          <p:cNvPr id="22" name="Image 0" descr="img/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Итоговая практическая работа по Теме 1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Итоговая работа по Теме 1</dc:title>
  <dc:subject>PptxGenJS Presentation</dc:subject>
  <dc:creator>PptxGenJS</dc:creator>
  <cp:lastModifiedBy>PptxGenJS</cp:lastModifiedBy>
  <cp:revision>1</cp:revision>
  <dcterms:created xsi:type="dcterms:W3CDTF">2026-10-02T02:14:39Z</dcterms:created>
  <dcterms:modified xsi:type="dcterms:W3CDTF">2026-10-02T02:14:39Z</dcterms:modified>
</cp:coreProperties>
</file>